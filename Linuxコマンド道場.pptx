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Meiryo"/>
              </a:rPr>
              <a:t>🐧  Linuxコマンド道場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94A3B8"/>
                </a:solidFill>
                <a:latin typeface="Meiryo"/>
              </a:rPr>
              <a:t>ターミナルで実際に打ちながら学ぶ 基本コマンド入門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4ADE80"/>
                </a:solidFill>
                <a:latin typeface="Consolas"/>
              </a:rPr>
              <a:t>全8レッスン / ls・cd・cat・mkdir・cp・grep ほか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09728" cy="64008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Meiryo"/>
              </a:rPr>
              <a:t>目次 —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54480"/>
            <a:ext cx="5029200" cy="914400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64208"/>
            <a:ext cx="8229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E2E8F0"/>
                </a:solidFill>
                <a:latin typeface="Meiryo"/>
              </a:rPr>
              <a:t>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682496"/>
            <a:ext cx="3840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18CF8"/>
                </a:solidFill>
                <a:latin typeface="Consolas"/>
              </a:rPr>
              <a:t>LESSON 01  </a:t>
            </a:r>
            <a:r>
              <a:rPr sz="1300" b="1">
                <a:solidFill>
                  <a:srgbClr val="4ADE80"/>
                </a:solidFill>
                <a:latin typeface="Consolas"/>
              </a:rPr>
              <a:t>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011680"/>
            <a:ext cx="3840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2E8F0"/>
                </a:solidFill>
                <a:latin typeface="Meiryo"/>
              </a:rPr>
              <a:t>ファイルの一覧を見る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697480"/>
            <a:ext cx="5029200" cy="914400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07208"/>
            <a:ext cx="8229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E2E8F0"/>
                </a:solidFill>
                <a:latin typeface="Meiryo"/>
              </a:rPr>
              <a:t>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825496"/>
            <a:ext cx="3840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18CF8"/>
                </a:solidFill>
                <a:latin typeface="Consolas"/>
              </a:rPr>
              <a:t>LESSON 02  </a:t>
            </a:r>
            <a:r>
              <a:rPr sz="1300" b="1">
                <a:solidFill>
                  <a:srgbClr val="4ADE80"/>
                </a:solidFill>
                <a:latin typeface="Consolas"/>
              </a:rPr>
              <a:t>pwd / 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154680"/>
            <a:ext cx="3840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2E8F0"/>
                </a:solidFill>
                <a:latin typeface="Meiryo"/>
              </a:rPr>
              <a:t>今どこ？ 移動する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840480"/>
            <a:ext cx="5029200" cy="914400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950208"/>
            <a:ext cx="8229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E2E8F0"/>
                </a:solidFill>
                <a:latin typeface="Meiryo"/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968496"/>
            <a:ext cx="3840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18CF8"/>
                </a:solidFill>
                <a:latin typeface="Consolas"/>
              </a:rPr>
              <a:t>LESSON 03  </a:t>
            </a:r>
            <a:r>
              <a:rPr sz="1300" b="1">
                <a:solidFill>
                  <a:srgbClr val="4ADE80"/>
                </a:solidFill>
                <a:latin typeface="Consolas"/>
              </a:rPr>
              <a:t>cat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297680"/>
            <a:ext cx="3840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2E8F0"/>
                </a:solidFill>
                <a:latin typeface="Meiryo"/>
              </a:rPr>
              <a:t>ファイルの中身を見る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983480"/>
            <a:ext cx="5029200" cy="914400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93208"/>
            <a:ext cx="8229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E2E8F0"/>
                </a:solidFill>
                <a:latin typeface="Meiryo"/>
              </a:rPr>
              <a:t>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111496"/>
            <a:ext cx="3840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18CF8"/>
                </a:solidFill>
                <a:latin typeface="Consolas"/>
              </a:rPr>
              <a:t>LESSON 04  </a:t>
            </a:r>
            <a:r>
              <a:rPr sz="1300" b="1">
                <a:solidFill>
                  <a:srgbClr val="4ADE80"/>
                </a:solidFill>
                <a:latin typeface="Consolas"/>
              </a:rPr>
              <a:t>mkdir / touch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440680"/>
            <a:ext cx="3840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2E8F0"/>
                </a:solidFill>
                <a:latin typeface="Meiryo"/>
              </a:rPr>
              <a:t>ディレクトリとファイルを作る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554480"/>
            <a:ext cx="5029200" cy="914400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664208"/>
            <a:ext cx="8229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E2E8F0"/>
                </a:solidFill>
                <a:latin typeface="Meiryo"/>
              </a:rPr>
              <a:t>✍️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682496"/>
            <a:ext cx="3840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18CF8"/>
                </a:solidFill>
                <a:latin typeface="Consolas"/>
              </a:rPr>
              <a:t>LESSON 05  </a:t>
            </a:r>
            <a:r>
              <a:rPr sz="1300" b="1">
                <a:solidFill>
                  <a:srgbClr val="4ADE80"/>
                </a:solidFill>
                <a:latin typeface="Consolas"/>
              </a:rPr>
              <a:t>echo 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011680"/>
            <a:ext cx="3840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2E8F0"/>
                </a:solidFill>
                <a:latin typeface="Meiryo"/>
              </a:rPr>
              <a:t>ファイルに書き込む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697480"/>
            <a:ext cx="5029200" cy="914400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807208"/>
            <a:ext cx="8229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E2E8F0"/>
                </a:solidFill>
                <a:latin typeface="Meiryo"/>
              </a:rPr>
              <a:t>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825496"/>
            <a:ext cx="3840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18CF8"/>
                </a:solidFill>
                <a:latin typeface="Consolas"/>
              </a:rPr>
              <a:t>LESSON 06  </a:t>
            </a:r>
            <a:r>
              <a:rPr sz="1300" b="1">
                <a:solidFill>
                  <a:srgbClr val="4ADE80"/>
                </a:solidFill>
                <a:latin typeface="Consolas"/>
              </a:rPr>
              <a:t>cp / mv / 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154680"/>
            <a:ext cx="3840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2E8F0"/>
                </a:solidFill>
                <a:latin typeface="Meiryo"/>
              </a:rPr>
              <a:t>コピー・移動・削除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840480"/>
            <a:ext cx="5029200" cy="914400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950208"/>
            <a:ext cx="8229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E2E8F0"/>
                </a:solidFill>
                <a:latin typeface="Meiryo"/>
              </a:rPr>
              <a:t>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968496"/>
            <a:ext cx="3840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18CF8"/>
                </a:solidFill>
                <a:latin typeface="Consolas"/>
              </a:rPr>
              <a:t>LESSON 07  </a:t>
            </a:r>
            <a:r>
              <a:rPr sz="1300" b="1">
                <a:solidFill>
                  <a:srgbClr val="4ADE80"/>
                </a:solidFill>
                <a:latin typeface="Consolas"/>
              </a:rPr>
              <a:t>grep / wc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4297680"/>
            <a:ext cx="3840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2E8F0"/>
                </a:solidFill>
                <a:latin typeface="Meiryo"/>
              </a:rPr>
              <a:t>検索と集計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983480"/>
            <a:ext cx="5029200" cy="914400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5093208"/>
            <a:ext cx="8229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E2E8F0"/>
                </a:solidFill>
                <a:latin typeface="Meiryo"/>
              </a:rPr>
              <a:t>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111496"/>
            <a:ext cx="3840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18CF8"/>
                </a:solidFill>
                <a:latin typeface="Consolas"/>
              </a:rPr>
              <a:t>LESSON 08  </a:t>
            </a:r>
            <a:r>
              <a:rPr sz="1300" b="1">
                <a:solidFill>
                  <a:srgbClr val="4ADE80"/>
                </a:solidFill>
                <a:latin typeface="Consolas"/>
              </a:rPr>
              <a:t>総合演習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5440680"/>
            <a:ext cx="3840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2E8F0"/>
                </a:solidFill>
                <a:latin typeface="Meiryo"/>
              </a:rPr>
              <a:t>総合演習 — 卒業ミッション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18CF8"/>
                </a:solidFill>
                <a:latin typeface="Consolas"/>
              </a:rPr>
              <a:t>LESSON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eiryo"/>
              </a:rPr>
              <a:t>📂  ファイルの一覧を見る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0" y="548640"/>
            <a:ext cx="2377440" cy="685800"/>
          </a:xfrm>
          <a:prstGeom prst="rect">
            <a:avLst/>
          </a:prstGeom>
          <a:solidFill>
            <a:srgbClr val="131C31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548640"/>
            <a:ext cx="237744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ADE80"/>
                </a:solidFill>
                <a:latin typeface="Consolas"/>
              </a:rPr>
              <a:t>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E2E8F0"/>
                </a:solidFill>
                <a:latin typeface="Meiryo"/>
              </a:rPr>
              <a:t>今いる場所にあるファイルやディレクトリ（フォルダ）の一覧を表示する、最もよく使うコマンドです。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5029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よく使う形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63240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18104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92424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一覧を表示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76472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31336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ls -l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05656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詳細（権限・サイズ）付きで表示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89704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44568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ls -a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18888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隠しファイルも表示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560320"/>
            <a:ext cx="5394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実行イメージ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017520"/>
            <a:ext cx="5440680" cy="2468880"/>
          </a:xfrm>
          <a:prstGeom prst="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172968"/>
            <a:ext cx="146304" cy="1463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3172968"/>
            <a:ext cx="146304" cy="146304"/>
          </a:xfrm>
          <a:prstGeom prst="rect">
            <a:avLst/>
          </a:prstGeom>
          <a:solidFill>
            <a:srgbClr val="FB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21424" y="3172968"/>
            <a:ext cx="146304" cy="14630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474720"/>
            <a:ext cx="5120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4ADE80"/>
                </a:solidFill>
                <a:latin typeface="Consolas"/>
              </a:rPr>
              <a:t>user@dojo:~$ </a:t>
            </a:r>
            <a:r>
              <a:rPr sz="1300">
                <a:solidFill>
                  <a:srgbClr val="E2E8F0"/>
                </a:solidFill>
                <a:latin typeface="Consolas"/>
              </a:rPr>
              <a:t>ls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documents/  projects/  memo.txt  welcome.txt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440680"/>
            <a:ext cx="10908792" cy="868680"/>
          </a:xfrm>
          <a:prstGeom prst="rect">
            <a:avLst/>
          </a:prstGeom>
          <a:solidFill>
            <a:srgbClr val="1E2745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532120"/>
            <a:ext cx="10424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📝 ミッション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861304"/>
            <a:ext cx="10424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2E8F0"/>
                </a:solidFill>
                <a:latin typeface="Meiryo"/>
              </a:rPr>
              <a:t>ターミナルで ls を実行して、ホームにあるファイルを表示してみよう。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18CF8"/>
                </a:solidFill>
                <a:latin typeface="Consolas"/>
              </a:rPr>
              <a:t>LESSON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eiryo"/>
              </a:rPr>
              <a:t>🧭  今どこ？ 移動する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0" y="548640"/>
            <a:ext cx="2377440" cy="685800"/>
          </a:xfrm>
          <a:prstGeom prst="rect">
            <a:avLst/>
          </a:prstGeom>
          <a:solidFill>
            <a:srgbClr val="131C31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548640"/>
            <a:ext cx="237744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ADE80"/>
                </a:solidFill>
                <a:latin typeface="Consolas"/>
              </a:rPr>
              <a:t>pwd / 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E2E8F0"/>
                </a:solidFill>
                <a:latin typeface="Meiryo"/>
              </a:rPr>
              <a:t>pwd で現在地の確認、cd でディレクトリ間を移動します。Linux はフォルダが階層構造になっています。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5029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よく使う形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63240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18104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pwd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92424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現在地の絶対パスを表示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76472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31336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cd 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05656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documents の中へ移動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89704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44568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cd 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18888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一つ上の階層へ戻る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202936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cd ~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ホームディレクトリへ戻る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560320"/>
            <a:ext cx="5394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実行イメージ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017520"/>
            <a:ext cx="5440680" cy="2468880"/>
          </a:xfrm>
          <a:prstGeom prst="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172968"/>
            <a:ext cx="146304" cy="1463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65392" y="3172968"/>
            <a:ext cx="146304" cy="146304"/>
          </a:xfrm>
          <a:prstGeom prst="rect">
            <a:avLst/>
          </a:prstGeom>
          <a:solidFill>
            <a:srgbClr val="FB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21424" y="3172968"/>
            <a:ext cx="146304" cy="14630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474720"/>
            <a:ext cx="5120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4ADE80"/>
                </a:solidFill>
                <a:latin typeface="Consolas"/>
              </a:rPr>
              <a:t>user@dojo:~$ </a:t>
            </a:r>
            <a:r>
              <a:rPr sz="1300">
                <a:solidFill>
                  <a:srgbClr val="E2E8F0"/>
                </a:solidFill>
                <a:latin typeface="Consolas"/>
              </a:rPr>
              <a:t>pwd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/home/user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4ADE80"/>
                </a:solidFill>
                <a:latin typeface="Consolas"/>
              </a:rPr>
              <a:t>user@dojo:~$ </a:t>
            </a:r>
            <a:r>
              <a:rPr sz="1300">
                <a:solidFill>
                  <a:srgbClr val="E2E8F0"/>
                </a:solidFill>
                <a:latin typeface="Consolas"/>
              </a:rPr>
              <a:t>cd documents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user@dojo:~/documents$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440680"/>
            <a:ext cx="10908792" cy="868680"/>
          </a:xfrm>
          <a:prstGeom prst="rect">
            <a:avLst/>
          </a:prstGeom>
          <a:solidFill>
            <a:srgbClr val="1E2745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532120"/>
            <a:ext cx="10424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📝 ミッション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861304"/>
            <a:ext cx="10424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2E8F0"/>
                </a:solidFill>
                <a:latin typeface="Meiryo"/>
              </a:rPr>
              <a:t>cd documents で documents ディレクトリへ移動しよう。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18CF8"/>
                </a:solidFill>
                <a:latin typeface="Consolas"/>
              </a:rPr>
              <a:t>LESSON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eiryo"/>
              </a:rPr>
              <a:t>📄  ファイルの中身を見る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0" y="548640"/>
            <a:ext cx="2377440" cy="685800"/>
          </a:xfrm>
          <a:prstGeom prst="rect">
            <a:avLst/>
          </a:prstGeom>
          <a:solidFill>
            <a:srgbClr val="131C31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548640"/>
            <a:ext cx="237744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ADE80"/>
                </a:solidFill>
                <a:latin typeface="Consolas"/>
              </a:rPr>
              <a:t>cat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E2E8F0"/>
                </a:solidFill>
                <a:latin typeface="Meiryo"/>
              </a:rPr>
              <a:t>cat はファイルの中身を画面に表示します。head / tail で先頭・末尾だけ見ることもできます。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5029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よく使う形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63240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18104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cat welcome.txt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92424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ファイルの中身を表示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76472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31336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head todo.md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05656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先頭10行だけ表示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89704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44568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tail todo.md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18888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末尾10行だけ表示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560320"/>
            <a:ext cx="5394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実行イメージ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017520"/>
            <a:ext cx="5440680" cy="2468880"/>
          </a:xfrm>
          <a:prstGeom prst="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172968"/>
            <a:ext cx="146304" cy="1463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3172968"/>
            <a:ext cx="146304" cy="146304"/>
          </a:xfrm>
          <a:prstGeom prst="rect">
            <a:avLst/>
          </a:prstGeom>
          <a:solidFill>
            <a:srgbClr val="FB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21424" y="3172968"/>
            <a:ext cx="146304" cy="14630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474720"/>
            <a:ext cx="5120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4ADE80"/>
                </a:solidFill>
                <a:latin typeface="Consolas"/>
              </a:rPr>
              <a:t>user@dojo:~$ </a:t>
            </a:r>
            <a:r>
              <a:rPr sz="1300">
                <a:solidFill>
                  <a:srgbClr val="E2E8F0"/>
                </a:solidFill>
                <a:latin typeface="Consolas"/>
              </a:rPr>
              <a:t>cat memo.txt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買い物リスト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- りんご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- ぱん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- ぎゅうにゅう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440680"/>
            <a:ext cx="10908792" cy="868680"/>
          </a:xfrm>
          <a:prstGeom prst="rect">
            <a:avLst/>
          </a:prstGeom>
          <a:solidFill>
            <a:srgbClr val="1E2745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532120"/>
            <a:ext cx="10424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📝 ミッション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861304"/>
            <a:ext cx="10424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2E8F0"/>
                </a:solidFill>
                <a:latin typeface="Meiryo"/>
              </a:rPr>
              <a:t>cat memo.txt で買い物メモを表示しよう。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18CF8"/>
                </a:solidFill>
                <a:latin typeface="Consolas"/>
              </a:rPr>
              <a:t>LESSON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eiryo"/>
              </a:rPr>
              <a:t>🛠️  ディレクトリとファイルを作る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0" y="548640"/>
            <a:ext cx="2377440" cy="685800"/>
          </a:xfrm>
          <a:prstGeom prst="rect">
            <a:avLst/>
          </a:prstGeom>
          <a:solidFill>
            <a:srgbClr val="131C31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548640"/>
            <a:ext cx="237744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ADE80"/>
                </a:solidFill>
                <a:latin typeface="Consolas"/>
              </a:rPr>
              <a:t>mkdir / touch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E2E8F0"/>
                </a:solidFill>
                <a:latin typeface="Meiryo"/>
              </a:rPr>
              <a:t>mkdir で新しいフォルダ、touch で空のファイルを作成します。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5029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よく使う形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63240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18104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mkdir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92424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practice フォルダを作成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76472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31336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touch note.txt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05656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空の note.txt を作成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89704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44568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echo "やあ" &gt; hi.txt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18888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文字を書き込みつつ作成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560320"/>
            <a:ext cx="5394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実行イメージ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017520"/>
            <a:ext cx="5440680" cy="2468880"/>
          </a:xfrm>
          <a:prstGeom prst="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172968"/>
            <a:ext cx="146304" cy="1463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3172968"/>
            <a:ext cx="146304" cy="146304"/>
          </a:xfrm>
          <a:prstGeom prst="rect">
            <a:avLst/>
          </a:prstGeom>
          <a:solidFill>
            <a:srgbClr val="FB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21424" y="3172968"/>
            <a:ext cx="146304" cy="14630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474720"/>
            <a:ext cx="5120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4ADE80"/>
                </a:solidFill>
                <a:latin typeface="Consolas"/>
              </a:rPr>
              <a:t>user@dojo:~$ </a:t>
            </a:r>
            <a:r>
              <a:rPr sz="1300">
                <a:solidFill>
                  <a:srgbClr val="E2E8F0"/>
                </a:solidFill>
                <a:latin typeface="Consolas"/>
              </a:rPr>
              <a:t>mkdir practice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4ADE80"/>
                </a:solidFill>
                <a:latin typeface="Consolas"/>
              </a:rPr>
              <a:t>user@dojo:~$ </a:t>
            </a:r>
            <a:r>
              <a:rPr sz="1300">
                <a:solidFill>
                  <a:srgbClr val="E2E8F0"/>
                </a:solidFill>
                <a:latin typeface="Consolas"/>
              </a:rPr>
              <a:t>ls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documents/  practice/  memo.txt  welcome.txt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440680"/>
            <a:ext cx="10908792" cy="868680"/>
          </a:xfrm>
          <a:prstGeom prst="rect">
            <a:avLst/>
          </a:prstGeom>
          <a:solidFill>
            <a:srgbClr val="1E2745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532120"/>
            <a:ext cx="10424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📝 ミッション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861304"/>
            <a:ext cx="10424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2E8F0"/>
                </a:solidFill>
                <a:latin typeface="Meiryo"/>
              </a:rPr>
              <a:t>mkdir practice で practice という新しいフォルダを作ろう。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18CF8"/>
                </a:solidFill>
                <a:latin typeface="Consolas"/>
              </a:rPr>
              <a:t>LESSON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eiryo"/>
              </a:rPr>
              <a:t>✍️  ファイルに書き込む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0" y="548640"/>
            <a:ext cx="2377440" cy="685800"/>
          </a:xfrm>
          <a:prstGeom prst="rect">
            <a:avLst/>
          </a:prstGeom>
          <a:solidFill>
            <a:srgbClr val="131C31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548640"/>
            <a:ext cx="237744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ADE80"/>
                </a:solidFill>
                <a:latin typeface="Consolas"/>
              </a:rPr>
              <a:t>echo 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E2E8F0"/>
                </a:solidFill>
                <a:latin typeface="Meiryo"/>
              </a:rPr>
              <a:t>echo は文字を表示。&gt; （リダイレクト）と組み合わせるとファイルに保存、&gt;&gt; なら末尾に追記します。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5029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よく使う形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63240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18104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echo こんにちは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92424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画面に表示するだけ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76472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31336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echo こんにちは &gt; greet.txt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05656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greet.txt に書き込み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89704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44568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echo またね &gt;&gt; greet.txt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18888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greet.txt に追記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560320"/>
            <a:ext cx="5394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実行イメージ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017520"/>
            <a:ext cx="5440680" cy="2468880"/>
          </a:xfrm>
          <a:prstGeom prst="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172968"/>
            <a:ext cx="146304" cy="1463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3172968"/>
            <a:ext cx="146304" cy="146304"/>
          </a:xfrm>
          <a:prstGeom prst="rect">
            <a:avLst/>
          </a:prstGeom>
          <a:solidFill>
            <a:srgbClr val="FB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21424" y="3172968"/>
            <a:ext cx="146304" cy="14630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474720"/>
            <a:ext cx="5120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4ADE80"/>
                </a:solidFill>
                <a:latin typeface="Consolas"/>
              </a:rPr>
              <a:t>user@dojo:~$ </a:t>
            </a:r>
            <a:r>
              <a:rPr sz="1300">
                <a:solidFill>
                  <a:srgbClr val="E2E8F0"/>
                </a:solidFill>
                <a:latin typeface="Consolas"/>
              </a:rPr>
              <a:t>echo hello &gt; greet.txt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4ADE80"/>
                </a:solidFill>
                <a:latin typeface="Consolas"/>
              </a:rPr>
              <a:t>user@dojo:~$ </a:t>
            </a:r>
            <a:r>
              <a:rPr sz="1300">
                <a:solidFill>
                  <a:srgbClr val="E2E8F0"/>
                </a:solidFill>
                <a:latin typeface="Consolas"/>
              </a:rPr>
              <a:t>cat greet.txt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hello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440680"/>
            <a:ext cx="10908792" cy="868680"/>
          </a:xfrm>
          <a:prstGeom prst="rect">
            <a:avLst/>
          </a:prstGeom>
          <a:solidFill>
            <a:srgbClr val="1E2745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532120"/>
            <a:ext cx="10424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📝 ミッション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861304"/>
            <a:ext cx="10424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2E8F0"/>
                </a:solidFill>
                <a:latin typeface="Meiryo"/>
              </a:rPr>
              <a:t>echo hello &gt; greet.txt で greet.txt を作って書き込もう。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18CF8"/>
                </a:solidFill>
                <a:latin typeface="Consolas"/>
              </a:rPr>
              <a:t>LESSON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eiryo"/>
              </a:rPr>
              <a:t>🔁  コピー・移動・削除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0" y="548640"/>
            <a:ext cx="2377440" cy="685800"/>
          </a:xfrm>
          <a:prstGeom prst="rect">
            <a:avLst/>
          </a:prstGeom>
          <a:solidFill>
            <a:srgbClr val="131C31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548640"/>
            <a:ext cx="237744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ADE80"/>
                </a:solidFill>
                <a:latin typeface="Consolas"/>
              </a:rPr>
              <a:t>cp / mv / 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E2E8F0"/>
                </a:solidFill>
                <a:latin typeface="Meiryo"/>
              </a:rPr>
              <a:t>ファイルのコピー・移動（リネーム）・削除を行います。rm したファイルは元に戻らないので注意！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5029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よく使う形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63240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18104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cp a.txt b.txt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92424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a.txt を b.txt にコピー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76472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31336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mv old.txt new.txt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05656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名前を変更（リネーム）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89704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44568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rm a.txt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18888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ファイルを削除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202936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rm -r folder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フォルダごと削除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560320"/>
            <a:ext cx="5394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実行イメージ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017520"/>
            <a:ext cx="5440680" cy="2468880"/>
          </a:xfrm>
          <a:prstGeom prst="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172968"/>
            <a:ext cx="146304" cy="1463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65392" y="3172968"/>
            <a:ext cx="146304" cy="146304"/>
          </a:xfrm>
          <a:prstGeom prst="rect">
            <a:avLst/>
          </a:prstGeom>
          <a:solidFill>
            <a:srgbClr val="FB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21424" y="3172968"/>
            <a:ext cx="146304" cy="14630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474720"/>
            <a:ext cx="5120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4ADE80"/>
                </a:solidFill>
                <a:latin typeface="Consolas"/>
              </a:rPr>
              <a:t>user@dojo:~$ </a:t>
            </a:r>
            <a:r>
              <a:rPr sz="1300">
                <a:solidFill>
                  <a:srgbClr val="E2E8F0"/>
                </a:solidFill>
                <a:latin typeface="Consolas"/>
              </a:rPr>
              <a:t>cp welcome.txt hello.txt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4ADE80"/>
                </a:solidFill>
                <a:latin typeface="Consolas"/>
              </a:rPr>
              <a:t>user@dojo:~$ </a:t>
            </a:r>
            <a:r>
              <a:rPr sz="1300">
                <a:solidFill>
                  <a:srgbClr val="E2E8F0"/>
                </a:solidFill>
                <a:latin typeface="Consolas"/>
              </a:rPr>
              <a:t>ls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hello.txt  memo.txt  welcome.txt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440680"/>
            <a:ext cx="10908792" cy="868680"/>
          </a:xfrm>
          <a:prstGeom prst="rect">
            <a:avLst/>
          </a:prstGeom>
          <a:solidFill>
            <a:srgbClr val="1E2745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532120"/>
            <a:ext cx="10424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📝 ミッション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861304"/>
            <a:ext cx="10424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2E8F0"/>
                </a:solidFill>
                <a:latin typeface="Meiryo"/>
              </a:rPr>
              <a:t>cp welcome.txt hello.txt で welcome.txt をコピーしよう。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18CF8"/>
                </a:solidFill>
                <a:latin typeface="Consolas"/>
              </a:rPr>
              <a:t>LESSON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eiryo"/>
              </a:rPr>
              <a:t>🔍  検索と集計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0" y="548640"/>
            <a:ext cx="2377440" cy="685800"/>
          </a:xfrm>
          <a:prstGeom prst="rect">
            <a:avLst/>
          </a:prstGeom>
          <a:solidFill>
            <a:srgbClr val="131C31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548640"/>
            <a:ext cx="237744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ADE80"/>
                </a:solidFill>
                <a:latin typeface="Consolas"/>
              </a:rPr>
              <a:t>grep / wc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E2E8F0"/>
                </a:solidFill>
                <a:latin typeface="Meiryo"/>
              </a:rPr>
              <a:t>grep はファイル内から特定の文字を含む行を検索、wc は行数や単語数を数えます。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5029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よく使う形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63240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18104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grep りんご memo.txt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92424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「りんご」を含む行を表示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76472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31336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wc -l memo.txt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05656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行数を数える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89704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44568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18888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フォルダ構造をツリー表示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560320"/>
            <a:ext cx="5394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実行イメージ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017520"/>
            <a:ext cx="5440680" cy="2468880"/>
          </a:xfrm>
          <a:prstGeom prst="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172968"/>
            <a:ext cx="146304" cy="1463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3172968"/>
            <a:ext cx="146304" cy="146304"/>
          </a:xfrm>
          <a:prstGeom prst="rect">
            <a:avLst/>
          </a:prstGeom>
          <a:solidFill>
            <a:srgbClr val="FB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21424" y="3172968"/>
            <a:ext cx="146304" cy="14630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474720"/>
            <a:ext cx="5120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4ADE80"/>
                </a:solidFill>
                <a:latin typeface="Consolas"/>
              </a:rPr>
              <a:t>user@dojo:~$ </a:t>
            </a:r>
            <a:r>
              <a:rPr sz="1300">
                <a:solidFill>
                  <a:srgbClr val="E2E8F0"/>
                </a:solidFill>
                <a:latin typeface="Consolas"/>
              </a:rPr>
              <a:t>grep ぱん memo.txt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- ぱん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4ADE80"/>
                </a:solidFill>
                <a:latin typeface="Consolas"/>
              </a:rPr>
              <a:t>user@dojo:~$ </a:t>
            </a:r>
            <a:r>
              <a:rPr sz="1300">
                <a:solidFill>
                  <a:srgbClr val="E2E8F0"/>
                </a:solidFill>
                <a:latin typeface="Consolas"/>
              </a:rPr>
              <a:t>wc -l memo.txt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4 memo.txt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440680"/>
            <a:ext cx="10908792" cy="868680"/>
          </a:xfrm>
          <a:prstGeom prst="rect">
            <a:avLst/>
          </a:prstGeom>
          <a:solidFill>
            <a:srgbClr val="1E2745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532120"/>
            <a:ext cx="10424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📝 ミッション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861304"/>
            <a:ext cx="10424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2E8F0"/>
                </a:solidFill>
                <a:latin typeface="Meiryo"/>
              </a:rPr>
              <a:t>grep ぱん memo.txt で「ぱん」を含む行を探そう。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18CF8"/>
                </a:solidFill>
                <a:latin typeface="Consolas"/>
              </a:rPr>
              <a:t>LESSON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eiryo"/>
              </a:rPr>
              <a:t>🎓  総合演習 — 卒業ミッション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0" y="548640"/>
            <a:ext cx="2377440" cy="685800"/>
          </a:xfrm>
          <a:prstGeom prst="rect">
            <a:avLst/>
          </a:prstGeom>
          <a:solidFill>
            <a:srgbClr val="131C31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548640"/>
            <a:ext cx="237744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ADE80"/>
                </a:solidFill>
                <a:latin typeface="Consolas"/>
              </a:rPr>
              <a:t>総合演習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E2E8F0"/>
                </a:solidFill>
                <a:latin typeface="Meiryo"/>
              </a:rPr>
              <a:t>学んだコマンドを組み合わせて、バックアップ作業に挑戦しましょう。これができれば卒業です！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5029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よく使う形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63240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18104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cd ~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92424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ホームへ移動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76472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31336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mkdir backup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05656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backup フォルダを作成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89704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44568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cp documents/report.txt backup/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18888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レポートをコピー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202936"/>
            <a:ext cx="5120640" cy="603504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48463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onsolas"/>
              </a:rPr>
              <a:t>ls backup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4846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eiryo"/>
              </a:rPr>
              <a:t>結果を確認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560320"/>
            <a:ext cx="5394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実行イメージ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017520"/>
            <a:ext cx="5440680" cy="2468880"/>
          </a:xfrm>
          <a:prstGeom prst="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172968"/>
            <a:ext cx="146304" cy="1463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65392" y="3172968"/>
            <a:ext cx="146304" cy="146304"/>
          </a:xfrm>
          <a:prstGeom prst="rect">
            <a:avLst/>
          </a:prstGeom>
          <a:solidFill>
            <a:srgbClr val="FB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21424" y="3172968"/>
            <a:ext cx="146304" cy="14630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474720"/>
            <a:ext cx="5120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4ADE80"/>
                </a:solidFill>
                <a:latin typeface="Consolas"/>
              </a:rPr>
              <a:t>user@dojo:~$ </a:t>
            </a:r>
            <a:r>
              <a:rPr sz="1300">
                <a:solidFill>
                  <a:srgbClr val="E2E8F0"/>
                </a:solidFill>
                <a:latin typeface="Consolas"/>
              </a:rPr>
              <a:t>mkdir backup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4ADE80"/>
                </a:solidFill>
                <a:latin typeface="Consolas"/>
              </a:rPr>
              <a:t>user@dojo:~$ </a:t>
            </a:r>
            <a:r>
              <a:rPr sz="1300">
                <a:solidFill>
                  <a:srgbClr val="E2E8F0"/>
                </a:solidFill>
                <a:latin typeface="Consolas"/>
              </a:rPr>
              <a:t>cp documents/report.txt backup/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4ADE80"/>
                </a:solidFill>
                <a:latin typeface="Consolas"/>
              </a:rPr>
              <a:t>user@dojo:~$ </a:t>
            </a:r>
            <a:r>
              <a:rPr sz="1300">
                <a:solidFill>
                  <a:srgbClr val="E2E8F0"/>
                </a:solidFill>
                <a:latin typeface="Consolas"/>
              </a:rPr>
              <a:t>ls backup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report.txt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440680"/>
            <a:ext cx="10908792" cy="868680"/>
          </a:xfrm>
          <a:prstGeom prst="rect">
            <a:avLst/>
          </a:prstGeom>
          <a:solidFill>
            <a:srgbClr val="1E2745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532120"/>
            <a:ext cx="10424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D2E"/>
                </a:solidFill>
                <a:latin typeface="Meiryo"/>
              </a:rPr>
              <a:t>📝 ミッション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861304"/>
            <a:ext cx="10424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2E8F0"/>
                </a:solidFill>
                <a:latin typeface="Meiryo"/>
              </a:rPr>
              <a:t>backup フォルダを作り、その中に report.txt をコピーしよう。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Meiryo"/>
              </a:rPr>
              <a:t>🎉 おさらい — チートシート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3520440" cy="868680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73352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ADE80"/>
                </a:solidFill>
                <a:latin typeface="Consolas"/>
              </a:rPr>
              <a:t>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32004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Meiryo"/>
              </a:rPr>
              <a:t>一覧表示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554480"/>
            <a:ext cx="3520440" cy="868680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73352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ADE80"/>
                </a:solidFill>
                <a:latin typeface="Consolas"/>
              </a:rPr>
              <a:t>pwd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39112"/>
            <a:ext cx="32004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Meiryo"/>
              </a:rPr>
              <a:t>現在地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59" y="1554480"/>
            <a:ext cx="3520440" cy="868680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9" y="1673352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ADE80"/>
                </a:solidFill>
                <a:latin typeface="Consolas"/>
              </a:rPr>
              <a:t>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9" y="2039112"/>
            <a:ext cx="32004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Meiryo"/>
              </a:rPr>
              <a:t>移動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06039"/>
            <a:ext cx="3520440" cy="868680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724911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ADE80"/>
                </a:solidFill>
                <a:latin typeface="Consolas"/>
              </a:rPr>
              <a:t>cat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90671"/>
            <a:ext cx="32004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Meiryo"/>
              </a:rPr>
              <a:t>中身表示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606039"/>
            <a:ext cx="3520440" cy="868680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724911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ADE80"/>
                </a:solidFill>
                <a:latin typeface="Consolas"/>
              </a:rPr>
              <a:t>echo 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090671"/>
            <a:ext cx="32004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Meiryo"/>
              </a:rPr>
              <a:t>書き込み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59" y="2606039"/>
            <a:ext cx="3520440" cy="868680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9" y="2724911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ADE80"/>
                </a:solidFill>
                <a:latin typeface="Consolas"/>
              </a:rPr>
              <a:t>mkdir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3090671"/>
            <a:ext cx="32004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Meiryo"/>
              </a:rPr>
              <a:t>フォルダ作成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657600"/>
            <a:ext cx="3520440" cy="868680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776472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ADE80"/>
                </a:solidFill>
                <a:latin typeface="Consolas"/>
              </a:rPr>
              <a:t>touch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142232"/>
            <a:ext cx="32004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Meiryo"/>
              </a:rPr>
              <a:t>ファイル作成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657600"/>
            <a:ext cx="3520440" cy="868680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776472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ADE80"/>
                </a:solidFill>
                <a:latin typeface="Consolas"/>
              </a:rPr>
              <a:t>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142232"/>
            <a:ext cx="32004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Meiryo"/>
              </a:rPr>
              <a:t>コピー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59" y="3657600"/>
            <a:ext cx="3520440" cy="868680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39" y="3776472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ADE80"/>
                </a:solidFill>
                <a:latin typeface="Consolas"/>
              </a:rPr>
              <a:t>mv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39" y="4142232"/>
            <a:ext cx="32004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Meiryo"/>
              </a:rPr>
              <a:t>移動/改名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709159"/>
            <a:ext cx="3520440" cy="868680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828031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ADE80"/>
                </a:solidFill>
                <a:latin typeface="Consolas"/>
              </a:rPr>
              <a:t>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193791"/>
            <a:ext cx="32004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Meiryo"/>
              </a:rPr>
              <a:t>削除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4709159"/>
            <a:ext cx="3520440" cy="868680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4828031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ADE80"/>
                </a:solidFill>
                <a:latin typeface="Consolas"/>
              </a:rPr>
              <a:t>grep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193791"/>
            <a:ext cx="32004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Meiryo"/>
              </a:rPr>
              <a:t>検索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59" y="4709159"/>
            <a:ext cx="3520440" cy="868680"/>
          </a:xfrm>
          <a:prstGeom prst="rect">
            <a:avLst/>
          </a:prstGeom>
          <a:solidFill>
            <a:srgbClr val="13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39" y="4828031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ADE80"/>
                </a:solidFill>
                <a:latin typeface="Consolas"/>
              </a:rPr>
              <a:t>wc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39" y="5193791"/>
            <a:ext cx="32004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Meiryo"/>
              </a:rPr>
              <a:t>行数集計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818CF8"/>
                </a:solidFill>
                <a:latin typeface="Meiryo"/>
              </a:rPr>
              <a:t>ブラウザ版『Linuxコマンド道場』で、実際に打って練習しよう！ 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